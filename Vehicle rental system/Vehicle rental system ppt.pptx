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840480" cy="384048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9622B"/>
                </a:solidFill>
                <a:latin typeface="Arial"/>
              </a:defRPr>
            </a:pPr>
            <a:r>
              <a:t>ENTERPRISE MYSQL PORTFOLIO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5000" b="1">
                <a:solidFill>
                  <a:srgbClr val="FFFFFF"/>
                </a:solidFill>
                <a:latin typeface="Arial"/>
              </a:defRPr>
            </a:pPr>
            <a:r>
              <a:t>Vehicle Rental</a:t>
            </a:r>
            <a:br/>
            <a:r>
              <a:t>System</a:t>
            </a:r>
          </a:p>
          <a:p>
            <a:pPr>
              <a:spcBef>
                <a:spcPts val="1800"/>
              </a:spcBef>
              <a:defRPr sz="1600">
                <a:solidFill>
                  <a:srgbClr val="CBD5E1"/>
                </a:solidFill>
                <a:latin typeface="Arial"/>
              </a:defRPr>
            </a:pPr>
            <a:r>
              <a:t>Database: vehicle_rental_db  •  4 Tables  •  60 SQL Queries  •  30,600 Verified Records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Technologies: MySQL 8.0  •  MySQL Workbench  •  Python &amp; SQLite  •  Git &amp; GitHub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54880"/>
            <a:ext cx="5303520" cy="1005840"/>
          </a:xfrm>
          <a:prstGeom prst="roundRect">
            <a:avLst/>
          </a:prstGeom>
          <a:solidFill>
            <a:srgbClr val="D96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FLEET PASS • UNLIMITED KILOMETERS</a:t>
            </a:r>
          </a:p>
          <a:p>
            <a:pPr>
              <a:defRPr sz="1100" b="1">
                <a:solidFill>
                  <a:srgbClr val="FED7AA"/>
                </a:solidFill>
                <a:latin typeface="Arial"/>
              </a:defRPr>
            </a:pPr>
            <a:r>
              <a:t>SEDANS • SUVS • LUXURY • ELECTRICS • 22 CITIES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D9622B"/>
                </a:solidFill>
                <a:latin typeface="Arial"/>
              </a:rPr>
              <a:t>1 </a:t>
            </a:r>
            <a:r>
              <a:rPr sz="2000" b="1">
                <a:solidFill>
                  <a:srgbClr val="1E293B"/>
                </a:solidFill>
                <a:latin typeface="Arial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Vehicle Rental System |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64992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600200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2907792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Arial"/>
              </a:defRPr>
            </a:pPr>
            <a:r>
              <a:t>Customer Management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  <a:latin typeface="Arial"/>
              </a:defRPr>
            </a:pPr>
            <a:r>
              <a:t>Stores customer personal details, verified driver license numbers, contact info, city, and registration dates.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64992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17720" y="1600200"/>
            <a:ext cx="411480" cy="4114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148840"/>
            <a:ext cx="2907792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Arial"/>
              </a:defRPr>
            </a:pPr>
            <a:r>
              <a:t>Fleet Management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  <a:latin typeface="Arial"/>
              </a:defRPr>
            </a:pPr>
            <a:r>
              <a:t>Maintains fleet catalog: model name, manufacturer brand, category (SUV, Sedan, Electric), fuel type, and daily rates.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64992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411480" cy="41148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148840"/>
            <a:ext cx="2907792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Arial"/>
              </a:defRPr>
            </a:pPr>
            <a:r>
              <a:t>Location Hub Management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  <a:latin typeface="Arial"/>
              </a:defRPr>
            </a:pPr>
            <a:r>
              <a:t>Stores airport hubs, metro branches, physical addresses, contact numbers, and parking bay capacities.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3364992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20" y="4069080"/>
            <a:ext cx="41148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617720"/>
            <a:ext cx="2907792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Arial"/>
              </a:defRPr>
            </a:pPr>
            <a:r>
              <a:t>Rental Management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  <a:latin typeface="Arial"/>
              </a:defRPr>
            </a:pPr>
            <a:r>
              <a:t>Central transactional ledger recording pickup/drop hubs, rental duration, total amount, and booking status.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840480"/>
            <a:ext cx="3364992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17720" y="4069080"/>
            <a:ext cx="411480" cy="41148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617720"/>
            <a:ext cx="2907792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Arial"/>
              </a:defRPr>
            </a:pPr>
            <a:r>
              <a:t>Revenue &amp; Fleet Analytics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  <a:latin typeface="Arial"/>
              </a:defRPr>
            </a:pPr>
            <a:r>
              <a:t>Analyzes category revenue contribution, fleet utilization, idle vehicles, and highest-earning vehicle models.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840480"/>
            <a:ext cx="3364992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75320" y="4069080"/>
            <a:ext cx="411480" cy="41148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4617720"/>
            <a:ext cx="2907792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Arial"/>
              </a:defRPr>
            </a:pPr>
            <a:r>
              <a:t>Payment &amp; Status Tracking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  <a:latin typeface="Arial"/>
              </a:defRPr>
            </a:pPr>
            <a:r>
              <a:t>Tracks multiple payment methods (UPI, Credit/Debit Cards, Net Banking) and statuses (Completed, Active, Cancelled).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D9622B"/>
                </a:solidFill>
                <a:latin typeface="Arial"/>
              </a:rPr>
              <a:t>2 </a:t>
            </a:r>
            <a:r>
              <a:rPr sz="2000" b="1">
                <a:solidFill>
                  <a:srgbClr val="1E293B"/>
                </a:solidFill>
                <a:latin typeface="Arial"/>
              </a:rP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Vehicle Rental System |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645920"/>
            <a:ext cx="411480" cy="41148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45920"/>
            <a:ext cx="402336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700" b="1">
                <a:solidFill>
                  <a:srgbClr val="1E293B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572000" cy="3474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Commercial car rental operations manage thousands of customers, hundreds of fleet assets, and multi-hub branches across cities. Without an integrated relational database, severe operational issues arise: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 Inconsistent &amp; duplicated records between fleet inventory and customers.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 One-way drop-offs hard to track between separate pickup and return locations.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 Unidentified idle inventory leading to high capital depreciation.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 No unified visibility into revenue drivers, active rentals, and cancellation rates.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92240" y="1645920"/>
            <a:ext cx="411480" cy="41148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645920"/>
            <a:ext cx="4114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700" b="1">
                <a:solidFill>
                  <a:srgbClr val="1E293B"/>
                </a:solidFill>
                <a:latin typeface="Arial"/>
              </a:defRPr>
            </a:pPr>
            <a:r>
              <a:t>Project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4663440" cy="3474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t>1   Design a normalized relational MySQL schema for vehicle rentals.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2   Enforce strict referential integrity using primary and foreign keys.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3   Populate and verify 30,600 realistic enterprise records across 22 cities.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4   Perform multi-table relational analysis using INNER &amp; LEFT JOINs.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5   Evaluate category performance, customer spend, and payment channels.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6   Implement advanced CTEs &amp; Window Functions for ranking and business KPIs.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D9622B"/>
                </a:solidFill>
                <a:latin typeface="Arial"/>
              </a:rPr>
              <a:t>3 </a:t>
            </a:r>
            <a:r>
              <a:rPr sz="2000" b="1">
                <a:solidFill>
                  <a:srgbClr val="1E293B"/>
                </a:solidFill>
                <a:latin typeface="Arial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Vehicle Rental System |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600200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2926080" cy="1554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Arial"/>
              </a:defRPr>
            </a:pPr>
            <a:r>
              <a:t>MySQL 8.0+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  <a:latin typeface="Arial"/>
              </a:defRPr>
            </a:pPr>
            <a:r>
              <a:t>Relational Database Management System providing enterprise-grade transaction processing, ACID compliance, and modern window analytical functions.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17720" y="1600200"/>
            <a:ext cx="411480" cy="41148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148840"/>
            <a:ext cx="2926080" cy="1554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Arial"/>
              </a:defRPr>
            </a:pPr>
            <a:r>
              <a:t>MySQL Workbench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  <a:latin typeface="Arial"/>
              </a:defRPr>
            </a:pPr>
            <a:r>
              <a:t>Visual database administration suite used for executing SQL queries, managing constraints, inspecting data tables, and generating ER diagrams.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411480" cy="411480"/>
          </a:xfrm>
          <a:prstGeom prst="round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148840"/>
            <a:ext cx="2926080" cy="1554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Arial"/>
              </a:defRPr>
            </a:pPr>
            <a:r>
              <a:t>Git &amp; GitHub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  <a:latin typeface="Arial"/>
              </a:defRPr>
            </a:pPr>
            <a:r>
              <a:t>Version control and source code repository hosting all SQL dump scripts, documentation files, ER diagrams, and query modules.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1069848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97680"/>
            <a:ext cx="10149840" cy="1554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1">
                <a:solidFill>
                  <a:srgbClr val="D9622B"/>
                </a:solidFill>
                <a:latin typeface="Arial"/>
              </a:defRPr>
            </a:pPr>
            <a:r>
              <a:t>Project Scope &amp; Dataset Scale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• Database: vehicle_rental_db  •  Tables: 4 (customers, vehicles, rental_locations, rentals)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• Total Dataset Scale: 30,600 verified records across 22 metropolitan cities.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• SQL Analysis: 60 graduated queries across Simple, Medium, and Hard difficulty levels.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D9622B"/>
                </a:solidFill>
                <a:latin typeface="Arial"/>
              </a:rPr>
              <a:t>4 </a:t>
            </a:r>
            <a:r>
              <a:rPr sz="2000" b="1">
                <a:solidFill>
                  <a:srgbClr val="1E293B"/>
                </a:solidFill>
                <a:latin typeface="Arial"/>
              </a:rPr>
              <a:t>Entity Relationship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Vehicle Rental System | 5</a:t>
            </a:r>
          </a:p>
        </p:txBody>
      </p:sp>
      <p:pic>
        <p:nvPicPr>
          <p:cNvPr id="5" name="Picture 4" descr="ER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132320" cy="4663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38160" y="1371600"/>
            <a:ext cx="329184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554480"/>
            <a:ext cx="2926080" cy="1097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Customers ➔ Rentals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One customer can book many vehicle rentals over time (1 : 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971800"/>
            <a:ext cx="329184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3154680"/>
            <a:ext cx="2926080" cy="1097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Arial"/>
              </a:defRPr>
            </a:pPr>
            <a:r>
              <a:t>Vehicles ➔ Rentals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One vehicle can appear in multiple bookings across calendar periods (1 : N).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572000"/>
            <a:ext cx="329184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4754880"/>
            <a:ext cx="2926080" cy="1097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EA580C"/>
                </a:solidFill>
                <a:latin typeface="Arial"/>
              </a:defRPr>
            </a:pPr>
            <a:r>
              <a:t>Locations ➔ Rentals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One hub hosts many pickups &amp; returns, supporting one-way intercity trips (1 : 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D9622B"/>
                </a:solidFill>
                <a:latin typeface="Arial"/>
              </a:rPr>
              <a:t>5 </a:t>
            </a:r>
            <a:r>
              <a:rPr sz="2000" b="1">
                <a:solidFill>
                  <a:srgbClr val="1E293B"/>
                </a:solidFill>
                <a:latin typeface="Arial"/>
              </a:rPr>
              <a:t>Database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Vehicle Rental System |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5603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customers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2286000" cy="4023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400"/>
              </a:spcBef>
              <a:defRPr sz="1000" b="1">
                <a:solidFill>
                  <a:srgbClr val="D9622B"/>
                </a:solidFill>
                <a:latin typeface="Courier New"/>
              </a:defRPr>
            </a:pPr>
            <a:r>
              <a:t>customer_id [PK]</a:t>
            </a:r>
          </a:p>
          <a:p>
            <a:pPr>
              <a:spcBef>
                <a:spcPts val="400"/>
              </a:spcBef>
              <a:defRPr sz="1000" b="0">
                <a:solidFill>
                  <a:srgbClr val="1E293B"/>
                </a:solidFill>
                <a:latin typeface="Courier New"/>
              </a:defRPr>
            </a:pPr>
            <a:r>
              <a:t>customer_name</a:t>
            </a:r>
          </a:p>
          <a:p>
            <a:pPr>
              <a:spcBef>
                <a:spcPts val="400"/>
              </a:spcBef>
              <a:defRPr sz="1000" b="0">
                <a:solidFill>
                  <a:srgbClr val="1E293B"/>
                </a:solidFill>
                <a:latin typeface="Courier New"/>
              </a:defRPr>
            </a:pPr>
            <a:r>
              <a:t>email</a:t>
            </a:r>
          </a:p>
          <a:p>
            <a:pPr>
              <a:spcBef>
                <a:spcPts val="400"/>
              </a:spcBef>
              <a:defRPr sz="1000" b="0">
                <a:solidFill>
                  <a:srgbClr val="1E293B"/>
                </a:solidFill>
                <a:latin typeface="Courier New"/>
              </a:defRPr>
            </a:pPr>
            <a:r>
              <a:t>phone</a:t>
            </a:r>
          </a:p>
          <a:p>
            <a:pPr>
              <a:spcBef>
                <a:spcPts val="400"/>
              </a:spcBef>
              <a:defRPr sz="1000" b="0">
                <a:solidFill>
                  <a:srgbClr val="1E293B"/>
                </a:solidFill>
                <a:latin typeface="Courier New"/>
              </a:defRPr>
            </a:pPr>
            <a:r>
              <a:t>city</a:t>
            </a:r>
          </a:p>
          <a:p>
            <a:pPr>
              <a:spcBef>
                <a:spcPts val="400"/>
              </a:spcBef>
              <a:defRPr sz="1000" b="0">
                <a:solidFill>
                  <a:srgbClr val="1E293B"/>
                </a:solidFill>
                <a:latin typeface="Courier New"/>
              </a:defRPr>
            </a:pPr>
            <a:r>
              <a:t>driver_license_no</a:t>
            </a:r>
          </a:p>
          <a:p>
            <a:pPr>
              <a:spcBef>
                <a:spcPts val="400"/>
              </a:spcBef>
              <a:defRPr sz="1000" b="0">
                <a:solidFill>
                  <a:srgbClr val="1E293B"/>
                </a:solidFill>
                <a:latin typeface="Courier New"/>
              </a:defRPr>
            </a:pPr>
            <a:r>
              <a:t>signup_date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371600"/>
            <a:ext cx="25603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56432" y="1371600"/>
            <a:ext cx="256032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vehicles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1965960"/>
            <a:ext cx="2286000" cy="4023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400"/>
              </a:spcBef>
              <a:defRPr sz="1000" b="1">
                <a:solidFill>
                  <a:srgbClr val="D9622B"/>
                </a:solidFill>
                <a:latin typeface="Courier New"/>
              </a:defRPr>
            </a:pPr>
            <a:r>
              <a:t>vehicle_id [PK]</a:t>
            </a:r>
          </a:p>
          <a:p>
            <a:pPr>
              <a:spcBef>
                <a:spcPts val="400"/>
              </a:spcBef>
              <a:defRPr sz="1000" b="0">
                <a:solidFill>
                  <a:srgbClr val="1E293B"/>
                </a:solidFill>
                <a:latin typeface="Courier New"/>
              </a:defRPr>
            </a:pPr>
            <a:r>
              <a:t>model_name</a:t>
            </a:r>
          </a:p>
          <a:p>
            <a:pPr>
              <a:spcBef>
                <a:spcPts val="400"/>
              </a:spcBef>
              <a:defRPr sz="1000" b="0">
                <a:solidFill>
                  <a:srgbClr val="1E293B"/>
                </a:solidFill>
                <a:latin typeface="Courier New"/>
              </a:defRPr>
            </a:pPr>
            <a:r>
              <a:t>brand</a:t>
            </a:r>
          </a:p>
          <a:p>
            <a:pPr>
              <a:spcBef>
                <a:spcPts val="400"/>
              </a:spcBef>
              <a:defRPr sz="1000" b="0">
                <a:solidFill>
                  <a:srgbClr val="1E293B"/>
                </a:solidFill>
                <a:latin typeface="Courier New"/>
              </a:defRPr>
            </a:pPr>
            <a:r>
              <a:t>category</a:t>
            </a:r>
          </a:p>
          <a:p>
            <a:pPr>
              <a:spcBef>
                <a:spcPts val="400"/>
              </a:spcBef>
              <a:defRPr sz="1000" b="0">
                <a:solidFill>
                  <a:srgbClr val="1E293B"/>
                </a:solidFill>
                <a:latin typeface="Courier New"/>
              </a:defRPr>
            </a:pPr>
            <a:r>
              <a:t>fuel_type</a:t>
            </a:r>
          </a:p>
          <a:p>
            <a:pPr>
              <a:spcBef>
                <a:spcPts val="400"/>
              </a:spcBef>
              <a:defRPr sz="1000" b="0">
                <a:solidFill>
                  <a:srgbClr val="1E293B"/>
                </a:solidFill>
                <a:latin typeface="Courier New"/>
              </a:defRPr>
            </a:pPr>
            <a:r>
              <a:t>daily_rate</a:t>
            </a:r>
          </a:p>
          <a:p>
            <a:pPr>
              <a:spcBef>
                <a:spcPts val="400"/>
              </a:spcBef>
              <a:defRPr sz="1000" b="0">
                <a:solidFill>
                  <a:srgbClr val="1E293B"/>
                </a:solidFill>
                <a:latin typeface="Courier New"/>
              </a:defRPr>
            </a:pPr>
            <a:r>
              <a:t>vehicle_status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371600"/>
            <a:ext cx="25603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371600"/>
            <a:ext cx="2560320" cy="5029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rental_locations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1965960"/>
            <a:ext cx="2286000" cy="4023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400"/>
              </a:spcBef>
              <a:defRPr sz="1000" b="1">
                <a:solidFill>
                  <a:srgbClr val="D9622B"/>
                </a:solidFill>
                <a:latin typeface="Courier New"/>
              </a:defRPr>
            </a:pPr>
            <a:r>
              <a:t>location_id [PK]</a:t>
            </a:r>
          </a:p>
          <a:p>
            <a:pPr>
              <a:spcBef>
                <a:spcPts val="400"/>
              </a:spcBef>
              <a:defRPr sz="1000" b="0">
                <a:solidFill>
                  <a:srgbClr val="1E293B"/>
                </a:solidFill>
                <a:latin typeface="Courier New"/>
              </a:defRPr>
            </a:pPr>
            <a:r>
              <a:t>location_name</a:t>
            </a:r>
          </a:p>
          <a:p>
            <a:pPr>
              <a:spcBef>
                <a:spcPts val="400"/>
              </a:spcBef>
              <a:defRPr sz="1000" b="0">
                <a:solidFill>
                  <a:srgbClr val="1E293B"/>
                </a:solidFill>
                <a:latin typeface="Courier New"/>
              </a:defRPr>
            </a:pPr>
            <a:r>
              <a:t>city</a:t>
            </a:r>
          </a:p>
          <a:p>
            <a:pPr>
              <a:spcBef>
                <a:spcPts val="400"/>
              </a:spcBef>
              <a:defRPr sz="1000" b="0">
                <a:solidFill>
                  <a:srgbClr val="1E293B"/>
                </a:solidFill>
                <a:latin typeface="Courier New"/>
              </a:defRPr>
            </a:pPr>
            <a:r>
              <a:t>address</a:t>
            </a:r>
          </a:p>
          <a:p>
            <a:pPr>
              <a:spcBef>
                <a:spcPts val="400"/>
              </a:spcBef>
              <a:defRPr sz="1000" b="0">
                <a:solidFill>
                  <a:srgbClr val="1E293B"/>
                </a:solidFill>
                <a:latin typeface="Courier New"/>
              </a:defRPr>
            </a:pPr>
            <a:r>
              <a:t>contact_number</a:t>
            </a:r>
          </a:p>
          <a:p>
            <a:pPr>
              <a:spcBef>
                <a:spcPts val="400"/>
              </a:spcBef>
              <a:defRPr sz="1000" b="0">
                <a:solidFill>
                  <a:srgbClr val="1E293B"/>
                </a:solidFill>
                <a:latin typeface="Courier New"/>
              </a:defRPr>
            </a:pPr>
            <a:r>
              <a:t>parking_capacity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371600"/>
            <a:ext cx="25603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06256" y="1371600"/>
            <a:ext cx="256032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rentals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3416" y="1965960"/>
            <a:ext cx="2286000" cy="4023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400"/>
              </a:spcBef>
              <a:defRPr sz="1000" b="1">
                <a:solidFill>
                  <a:srgbClr val="D9622B"/>
                </a:solidFill>
                <a:latin typeface="Courier New"/>
              </a:defRPr>
            </a:pPr>
            <a:r>
              <a:t>rental_id [PK]</a:t>
            </a:r>
          </a:p>
          <a:p>
            <a:pPr>
              <a:spcBef>
                <a:spcPts val="400"/>
              </a:spcBef>
              <a:defRPr sz="1000" b="1">
                <a:solidFill>
                  <a:srgbClr val="2563EB"/>
                </a:solidFill>
                <a:latin typeface="Courier New"/>
              </a:defRPr>
            </a:pPr>
            <a:r>
              <a:t>customer_id [FK]</a:t>
            </a:r>
          </a:p>
          <a:p>
            <a:pPr>
              <a:spcBef>
                <a:spcPts val="400"/>
              </a:spcBef>
              <a:defRPr sz="1000" b="1">
                <a:solidFill>
                  <a:srgbClr val="2563EB"/>
                </a:solidFill>
                <a:latin typeface="Courier New"/>
              </a:defRPr>
            </a:pPr>
            <a:r>
              <a:t>vehicle_id [FK]</a:t>
            </a:r>
          </a:p>
          <a:p>
            <a:pPr>
              <a:spcBef>
                <a:spcPts val="400"/>
              </a:spcBef>
              <a:defRPr sz="1000" b="1">
                <a:solidFill>
                  <a:srgbClr val="2563EB"/>
                </a:solidFill>
                <a:latin typeface="Courier New"/>
              </a:defRPr>
            </a:pPr>
            <a:r>
              <a:t>pickup_location_id [FK]</a:t>
            </a:r>
          </a:p>
          <a:p>
            <a:pPr>
              <a:spcBef>
                <a:spcPts val="400"/>
              </a:spcBef>
              <a:defRPr sz="1000" b="1">
                <a:solidFill>
                  <a:srgbClr val="2563EB"/>
                </a:solidFill>
                <a:latin typeface="Courier New"/>
              </a:defRPr>
            </a:pPr>
            <a:r>
              <a:t>return_location_id [FK]</a:t>
            </a:r>
          </a:p>
          <a:p>
            <a:pPr>
              <a:spcBef>
                <a:spcPts val="400"/>
              </a:spcBef>
              <a:defRPr sz="1000" b="0">
                <a:solidFill>
                  <a:srgbClr val="1E293B"/>
                </a:solidFill>
                <a:latin typeface="Courier New"/>
              </a:defRPr>
            </a:pPr>
            <a:r>
              <a:t>rental_start_date</a:t>
            </a:r>
          </a:p>
          <a:p>
            <a:pPr>
              <a:spcBef>
                <a:spcPts val="400"/>
              </a:spcBef>
              <a:defRPr sz="1000" b="0">
                <a:solidFill>
                  <a:srgbClr val="1E293B"/>
                </a:solidFill>
                <a:latin typeface="Courier New"/>
              </a:defRPr>
            </a:pPr>
            <a:r>
              <a:t>rental_duration_days</a:t>
            </a:r>
          </a:p>
          <a:p>
            <a:pPr>
              <a:spcBef>
                <a:spcPts val="400"/>
              </a:spcBef>
              <a:defRPr sz="1000" b="0">
                <a:solidFill>
                  <a:srgbClr val="1E293B"/>
                </a:solidFill>
                <a:latin typeface="Courier New"/>
              </a:defRPr>
            </a:pPr>
            <a:r>
              <a:t>total_amount</a:t>
            </a:r>
          </a:p>
          <a:p>
            <a:pPr>
              <a:spcBef>
                <a:spcPts val="400"/>
              </a:spcBef>
              <a:defRPr sz="1000" b="0">
                <a:solidFill>
                  <a:srgbClr val="1E293B"/>
                </a:solidFill>
                <a:latin typeface="Courier New"/>
              </a:defRPr>
            </a:pPr>
            <a:r>
              <a:t>rental_status</a:t>
            </a:r>
          </a:p>
          <a:p>
            <a:pPr>
              <a:spcBef>
                <a:spcPts val="400"/>
              </a:spcBef>
              <a:defRPr sz="1000" b="0">
                <a:solidFill>
                  <a:srgbClr val="1E293B"/>
                </a:solidFill>
                <a:latin typeface="Courier New"/>
              </a:defRPr>
            </a:pPr>
            <a:r>
              <a:t>payment_method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D9622B"/>
                </a:solidFill>
                <a:latin typeface="Arial"/>
              </a:rPr>
              <a:t>6 </a:t>
            </a:r>
            <a:r>
              <a:rPr sz="2000" b="1">
                <a:solidFill>
                  <a:srgbClr val="1E293B"/>
                </a:solidFill>
                <a:latin typeface="Arial"/>
              </a:rPr>
              <a:t>Key Relationships &amp; Data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Vehicle Rental System |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017520" cy="1737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Arial"/>
              </a:defRPr>
            </a:pPr>
            <a:r>
              <a:t>CUSTOMERS ➔ RENTALS</a:t>
            </a:r>
          </a:p>
          <a:p>
            <a:pPr>
              <a:spcBef>
                <a:spcPts val="600"/>
              </a:spcBef>
              <a:defRPr sz="1050" b="1">
                <a:solidFill>
                  <a:srgbClr val="2563EB"/>
                </a:solidFill>
                <a:latin typeface="Courier New"/>
              </a:defRPr>
            </a:pPr>
            <a:r>
              <a:t>rentals.customer_id ➔ customers.customer_id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Enforces that every rental must belong to a registered customer. One customer can have many historical rentals.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0" y="1554480"/>
            <a:ext cx="411480" cy="4114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3017520" cy="1737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Arial"/>
              </a:defRPr>
            </a:pPr>
            <a:r>
              <a:t>VEHICLES ➔ RENTALS</a:t>
            </a:r>
          </a:p>
          <a:p>
            <a:pPr>
              <a:spcBef>
                <a:spcPts val="600"/>
              </a:spcBef>
              <a:defRPr sz="1050" b="1">
                <a:solidFill>
                  <a:srgbClr val="0D9488"/>
                </a:solidFill>
                <a:latin typeface="Courier New"/>
              </a:defRPr>
            </a:pPr>
            <a:r>
              <a:t>rentals.vehicle_id ➔ vehicles.vehicle_id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Ties every booking to a valid fleet asset. Tracks which vehicles are currently rented or idle.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1554480"/>
            <a:ext cx="411480" cy="41148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3017520" cy="1737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Arial"/>
              </a:defRPr>
            </a:pPr>
            <a:r>
              <a:t>LOCATIONS ➔ RENTALS</a:t>
            </a:r>
          </a:p>
          <a:p>
            <a:pPr>
              <a:spcBef>
                <a:spcPts val="600"/>
              </a:spcBef>
              <a:defRPr sz="1050" b="1">
                <a:solidFill>
                  <a:srgbClr val="EA580C"/>
                </a:solidFill>
                <a:latin typeface="Courier New"/>
              </a:defRPr>
            </a:pPr>
            <a:r>
              <a:t>rentals.pickup_location_id ➔ rental_locations.location_id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Supports multi-hub operations where pickup and return stations can differ (enabling one-way rentals).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1069848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89120"/>
            <a:ext cx="10149840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1">
                <a:solidFill>
                  <a:srgbClr val="D9622B"/>
                </a:solidFill>
                <a:latin typeface="Arial"/>
              </a:defRPr>
            </a:pPr>
            <a:r>
              <a:t>Data Integrity Rules Enforced</a:t>
            </a:r>
          </a:p>
          <a:p>
            <a:pPr>
              <a:spcBef>
                <a:spcPts val="5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Primary keys uniquely identify records across all 4 tables with 1:N cardinality.</a:t>
            </a:r>
          </a:p>
          <a:p>
            <a:pPr>
              <a:spcBef>
                <a:spcPts val="5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Foreign keys prevent orphan rentals; bookings cannot point to non-existent customers, cars, or hubs.</a:t>
            </a:r>
          </a:p>
          <a:p>
            <a:pPr>
              <a:spcBef>
                <a:spcPts val="5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Data types and constraints enforce currency precision (DECIMAL 10,2) and accurate DATETIME timestamps.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D9622B"/>
                </a:solidFill>
                <a:latin typeface="Arial"/>
              </a:rPr>
              <a:t>7 </a:t>
            </a:r>
            <a:r>
              <a:rPr sz="2000" b="1">
                <a:solidFill>
                  <a:srgbClr val="1E293B"/>
                </a:solidFill>
                <a:latin typeface="Arial"/>
              </a:rPr>
              <a:t>Database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Vehicle Rental System |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00200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301752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Arial"/>
              </a:defRPr>
            </a:pPr>
            <a:r>
              <a:t>Step 1: Schema Setup</a:t>
            </a:r>
          </a:p>
          <a:p>
            <a:pPr>
              <a:spcBef>
                <a:spcPts val="1200"/>
              </a:spcBef>
              <a:defRPr sz="1050" b="1">
                <a:solidFill>
                  <a:srgbClr val="D9622B"/>
                </a:solidFill>
                <a:latin typeface="Courier New"/>
              </a:defRPr>
            </a:pPr>
            <a:r>
              <a:t>CREATE DATABASE IF NOT EXISTS vehicle_rental_db;</a:t>
            </a:r>
            <a:br/>
            <a:r>
              <a:t>USE vehicle_rental_db;</a:t>
            </a:r>
          </a:p>
          <a:p>
            <a:pPr>
              <a:spcBef>
                <a:spcPts val="1400"/>
              </a:spcBef>
              <a:defRPr sz="1150">
                <a:solidFill>
                  <a:srgbClr val="64748B"/>
                </a:solidFill>
                <a:latin typeface="Arial"/>
              </a:defRPr>
            </a:pPr>
            <a:r>
              <a:t>Create the isolated database schema and set it as the active working context.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0" y="1600200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48840"/>
            <a:ext cx="301752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Arial"/>
              </a:defRPr>
            </a:pPr>
            <a:r>
              <a:t>Step 2: Table Creation</a:t>
            </a:r>
          </a:p>
          <a:p>
            <a:pPr>
              <a:spcBef>
                <a:spcPts val="1200"/>
              </a:spcBef>
              <a:defRPr sz="1050" b="1">
                <a:solidFill>
                  <a:srgbClr val="D9622B"/>
                </a:solidFill>
                <a:latin typeface="Courier New"/>
              </a:defRPr>
            </a:pPr>
            <a:r>
              <a:t>CREATE TABLE customers (...);</a:t>
            </a:r>
            <a:br/>
            <a:r>
              <a:t>CREATE TABLE vehicles (...);</a:t>
            </a:r>
            <a:br/>
            <a:r>
              <a:t>CREATE TABLE rental_locations (...);</a:t>
            </a:r>
            <a:br/>
            <a:r>
              <a:t>CREATE TABLE rentals (...);</a:t>
            </a:r>
          </a:p>
          <a:p>
            <a:pPr>
              <a:spcBef>
                <a:spcPts val="1400"/>
              </a:spcBef>
              <a:defRPr sz="1150">
                <a:solidFill>
                  <a:srgbClr val="64748B"/>
                </a:solidFill>
                <a:latin typeface="Arial"/>
              </a:defRPr>
            </a:pPr>
            <a:r>
              <a:t>Create dimension master tables first, then create the central rentals fact table with foreign keys.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1600200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48840"/>
            <a:ext cx="301752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Arial"/>
              </a:defRPr>
            </a:pPr>
            <a:r>
              <a:t>Step 3: Verification</a:t>
            </a:r>
          </a:p>
          <a:p>
            <a:pPr>
              <a:spcBef>
                <a:spcPts val="1200"/>
              </a:spcBef>
              <a:defRPr sz="1050" b="1">
                <a:solidFill>
                  <a:srgbClr val="D9622B"/>
                </a:solidFill>
                <a:latin typeface="Courier New"/>
              </a:defRPr>
            </a:pPr>
            <a:r>
              <a:t>SHOW TABLES;</a:t>
            </a:r>
            <a:br/>
            <a:r>
              <a:t>SELECT COUNT(*) FROM customers;</a:t>
            </a:r>
            <a:br/>
            <a:r>
              <a:t>SELECT COUNT(*) FROM rentals;</a:t>
            </a:r>
          </a:p>
          <a:p>
            <a:pPr>
              <a:spcBef>
                <a:spcPts val="1400"/>
              </a:spcBef>
              <a:defRPr sz="1150">
                <a:solidFill>
                  <a:srgbClr val="64748B"/>
                </a:solidFill>
                <a:latin typeface="Arial"/>
              </a:defRPr>
            </a:pPr>
            <a:r>
              <a:t>Confirm table existence, check constraint compilation, and verify referential integrity.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D9622B"/>
                </a:solidFill>
                <a:latin typeface="Arial"/>
              </a:rPr>
              <a:t>8 </a:t>
            </a:r>
            <a:r>
              <a:rPr sz="2000" b="1">
                <a:solidFill>
                  <a:srgbClr val="1E293B"/>
                </a:solidFill>
                <a:latin typeface="Arial"/>
              </a:rPr>
              <a:t>Data Insertion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Vehicle Rental System |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645920"/>
            <a:ext cx="41148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4592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293B"/>
                </a:solidFill>
                <a:latin typeface="Arial"/>
              </a:defRPr>
            </a:pPr>
            <a:r>
              <a:t>Data Inserted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572000" cy="3474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•  10,000 Customer profiles with realistic names, cities, phone &amp; driver license IDs.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 500 Fleet vehicles spanning 10 brands (Toyota, Hyundai, Tesla, BMW, Tata, etc.).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 100 Rental hub stations across 22 major Indian metropolitan cities.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 20,000 Rental transactions spanning 2024 to 2026.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 Start dates, end dates, duration (1-14 days), and calculated amounts.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 Diverse payment channels (UPI, Credit/Debit cards, Net Banking, Cash).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 Realistic operational statuses (Completed, Active, Cancelled, Reserved).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92240" y="1645920"/>
            <a:ext cx="411480" cy="41148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6459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293B"/>
                </a:solidFill>
                <a:latin typeface="Arial"/>
              </a:defRPr>
            </a:pPr>
            <a:r>
              <a:t>Verified Record Counts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4663440" cy="3474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Executing SELECT COUNT(*) confirms complete data integrity:</a:t>
            </a:r>
          </a:p>
          <a:p>
            <a:pPr>
              <a:spcBef>
                <a:spcPts val="1000"/>
              </a:spcBef>
              <a:defRPr sz="1200" b="0">
                <a:solidFill>
                  <a:srgbClr val="1E293B"/>
                </a:solidFill>
                <a:latin typeface="Courier New"/>
              </a:defRPr>
            </a:pPr>
            <a:r>
              <a:t>customers                :  10,000 records</a:t>
            </a:r>
          </a:p>
          <a:p>
            <a:pPr>
              <a:spcBef>
                <a:spcPts val="1000"/>
              </a:spcBef>
              <a:defRPr sz="1200" b="0">
                <a:solidFill>
                  <a:srgbClr val="1E293B"/>
                </a:solidFill>
                <a:latin typeface="Courier New"/>
              </a:defRPr>
            </a:pPr>
            <a:r>
              <a:t>vehicles                 :  500 records</a:t>
            </a:r>
          </a:p>
          <a:p>
            <a:pPr>
              <a:spcBef>
                <a:spcPts val="1000"/>
              </a:spcBef>
              <a:defRPr sz="1200" b="0">
                <a:solidFill>
                  <a:srgbClr val="1E293B"/>
                </a:solidFill>
                <a:latin typeface="Courier New"/>
              </a:defRPr>
            </a:pPr>
            <a:r>
              <a:t>rental_locations         :  100 records</a:t>
            </a:r>
          </a:p>
          <a:p>
            <a:pPr>
              <a:spcBef>
                <a:spcPts val="1000"/>
              </a:spcBef>
              <a:defRPr sz="1200" b="0">
                <a:solidFill>
                  <a:srgbClr val="1E293B"/>
                </a:solidFill>
                <a:latin typeface="Courier New"/>
              </a:defRPr>
            </a:pPr>
            <a:r>
              <a:t>rentals                  :  20,000 records</a:t>
            </a:r>
          </a:p>
          <a:p>
            <a:pPr>
              <a:spcBef>
                <a:spcPts val="1000"/>
              </a:spcBef>
              <a:defRPr sz="1200" b="1">
                <a:solidFill>
                  <a:srgbClr val="D9622B"/>
                </a:solidFill>
                <a:latin typeface="Courier New"/>
              </a:defRPr>
            </a:pPr>
            <a:r>
              <a:t>Total Verified Records   :  30,600 records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D9622B"/>
                </a:solidFill>
                <a:latin typeface="Arial"/>
              </a:rPr>
              <a:t>9 </a:t>
            </a:r>
            <a:r>
              <a:rPr sz="2000" b="1">
                <a:solidFill>
                  <a:srgbClr val="1E293B"/>
                </a:solidFill>
                <a:latin typeface="Arial"/>
              </a:rPr>
              <a:t>SQL Analysis — Basic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Vehicle Rental System |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5720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645920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459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Arial"/>
              </a:defRPr>
            </a:pPr>
            <a:r>
              <a:t>Simple Queries (Q1 – Q20)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023360" cy="3474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•  SELECT, WHERE, LIKE, DISTINCT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 ORDER BY, LIMIT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 COUNT(), SUM(), AVG(), MIN(), MAX()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 Filters by city ('Mumbai', 'Bangalore')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 Filters by category ('SUV') and brand ('Toyota')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 Filters by rental_status ('Completed')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 Payment method filtering ('UPI')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371600"/>
            <a:ext cx="5760720" cy="46634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1554480"/>
            <a:ext cx="5212080" cy="4297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50">
                <a:solidFill>
                  <a:srgbClr val="E2E8F0"/>
                </a:solidFill>
                <a:latin typeface="Courier New"/>
              </a:defRPr>
            </a:pPr>
            <a:r>
              <a:t>-- Q7. Display vehicles in the 'SUV' category</a:t>
            </a:r>
            <a:br/>
            <a:r>
              <a:t>SELECT model_name, brand, daily_rate</a:t>
            </a:r>
            <a:br/>
            <a:r>
              <a:t>FROM vehicles</a:t>
            </a:r>
            <a:br/>
            <a:r>
              <a:t>WHERE category = 'SUV'</a:t>
            </a:r>
            <a:br/>
            <a:r>
              <a:t>LIMIT 3;</a:t>
            </a:r>
            <a:br/>
            <a:br/>
            <a:r>
              <a:t>-- Q18. Top 10 highest-value rentals</a:t>
            </a:r>
            <a:br/>
            <a:r>
              <a:t>SELECT rental_id, customer_id, total_amount</a:t>
            </a:r>
            <a:br/>
            <a:r>
              <a:t>FROM rentals</a:t>
            </a:r>
            <a:br/>
            <a:r>
              <a:t>ORDER BY total_amount DESC</a:t>
            </a:r>
            <a:br/>
            <a:r>
              <a:t>LIMIT 10;</a:t>
            </a:r>
            <a:br/>
            <a:br/>
            <a:r>
              <a:t>-- Q20. Total revenue from completed rentals</a:t>
            </a:r>
            <a:br/>
            <a:r>
              <a:t>SELECT SUM(total_amount) AS total_revenue</a:t>
            </a:r>
            <a:br/>
            <a:r>
              <a:t>FROM rentals</a:t>
            </a:r>
            <a:br/>
            <a:r>
              <a:t>WHERE rental_status = 'Completed';</a:t>
            </a:r>
            <a:br/>
            <a:r>
              <a:t>-- Output: ₹22,10,04,935.00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D9622B"/>
                </a:solidFill>
                <a:latin typeface="Arial"/>
              </a:rPr>
              <a:t>10 </a:t>
            </a:r>
            <a:r>
              <a:rPr sz="2000" b="1">
                <a:solidFill>
                  <a:srgbClr val="1E293B"/>
                </a:solidFill>
                <a:latin typeface="Arial"/>
              </a:rPr>
              <a:t>Revenue &amp; Rental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Vehicle Rental System |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6634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846320" cy="4297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50">
                <a:solidFill>
                  <a:srgbClr val="E2E8F0"/>
                </a:solidFill>
                <a:latin typeface="Courier New"/>
              </a:defRPr>
            </a:pPr>
            <a:r>
              <a:t>-- Revenue &amp; volume by vehicle category</a:t>
            </a:r>
            <a:br/>
            <a:r>
              <a:t>SELECT v.category,</a:t>
            </a:r>
            <a:br/>
            <a:r>
              <a:t>       COUNT(r.rental_id) AS total_rentals,</a:t>
            </a:r>
            <a:br/>
            <a:r>
              <a:t>       SUM(r.total_amount) AS total_revenue</a:t>
            </a:r>
            <a:br/>
            <a:r>
              <a:t>FROM vehicles v</a:t>
            </a:r>
            <a:br/>
            <a:r>
              <a:t>JOIN rentals r ON v.vehicle_id = r.vehicle_id</a:t>
            </a:r>
            <a:br/>
            <a:r>
              <a:t>WHERE r.rental_status = 'Completed'</a:t>
            </a:r>
            <a:br/>
            <a:r>
              <a:t>GROUP BY v.category</a:t>
            </a:r>
            <a:br/>
            <a:r>
              <a:t>ORDER BY total_revenue DESC;</a:t>
            </a:r>
            <a:br/>
            <a:br/>
            <a:r>
              <a:t>/* Key Findings:</a:t>
            </a:r>
            <a:br/>
            <a:r>
              <a:t> * SUV: ₹7.14 Cr (32.3%)</a:t>
            </a:r>
            <a:br/>
            <a:r>
              <a:t> * Luxury: ₹6.51 Cr (29.5%)</a:t>
            </a:r>
            <a:br/>
            <a:r>
              <a:t> * Electric: ₹4.26 Cr (19.3%) */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0" y="1645920"/>
            <a:ext cx="411480" cy="4114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64592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Arial"/>
              </a:defRPr>
            </a:pPr>
            <a:r>
              <a:t>Commercial Value &amp; SQL Concepts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572000" cy="3474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What it answers: Which vehicle classes generate the largest revenue share and rental frequency?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SQL Concepts used: INNER JOIN, GROUP BY, SUM(), COUNT(), ORDER BY DESC.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Business Value: Shows that SUVs &amp; Luxury cars generate over 61% of total enterprise revenue, justifying targeted fleet expansion.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City Performance: Metros like Pune, Bangalore, Mumbai, and Delhi lead in completed rental transaction value.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D9622B"/>
                </a:solidFill>
                <a:latin typeface="Arial"/>
              </a:rPr>
              <a:t>11 </a:t>
            </a:r>
            <a:r>
              <a:rPr sz="2000" b="1">
                <a:solidFill>
                  <a:srgbClr val="1E293B"/>
                </a:solidFill>
                <a:latin typeface="Arial"/>
              </a:rPr>
              <a:t>Customer &amp; Fleet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Vehicle Rental System |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645920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4592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Arial"/>
              </a:defRPr>
            </a:pPr>
            <a:r>
              <a:t>Customer Rental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D9622B"/>
                </a:solidFill>
                <a:latin typeface="Courier New"/>
              </a:defRPr>
            </a:pPr>
            <a:r>
              <a:t>-- Total rentals by each customer</a:t>
            </a:r>
            <a:br/>
            <a:r>
              <a:t>SELECT c.customer_id, c.customer_name,</a:t>
            </a:r>
            <a:br/>
            <a:r>
              <a:t>       COUNT(r.rental_id) AS total_rentals</a:t>
            </a:r>
            <a:br/>
            <a:r>
              <a:t>FROM customers c</a:t>
            </a:r>
            <a:br/>
            <a:r>
              <a:t>LEFT JOIN rentals r ON c.customer_id = r.customer_id</a:t>
            </a:r>
            <a:br/>
            <a:r>
              <a:t>GROUP BY c.customer_id, c.customer_name;</a:t>
            </a:r>
          </a:p>
          <a:p>
            <a:pPr>
              <a:spcBef>
                <a:spcPts val="10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• LEFT JOIN ensures registered customers who have made 0 bookings are preserved for re-engagement marketing.</a:t>
            </a:r>
            <a:br/>
            <a:r>
              <a:t>• Identifies high-frequency repeat renters (4+ bookings) for loyalty rewards.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92240" y="1645920"/>
            <a:ext cx="41148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6459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Arial"/>
              </a:defRPr>
            </a:pPr>
            <a:r>
              <a:t>Payment Method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D9622B"/>
                </a:solidFill>
                <a:latin typeface="Courier New"/>
              </a:defRPr>
            </a:pPr>
            <a:r>
              <a:t>-- Average rental amount by payment method</a:t>
            </a:r>
            <a:br/>
            <a:r>
              <a:t>SELECT payment_method,</a:t>
            </a:r>
            <a:br/>
            <a:r>
              <a:t>       COUNT(*) AS total_transactions,</a:t>
            </a:r>
            <a:br/>
            <a:r>
              <a:t>       ROUND(AVG(total_amount), 2) AS avg_amount</a:t>
            </a:r>
            <a:br/>
            <a:r>
              <a:t>FROM rentals</a:t>
            </a:r>
            <a:br/>
            <a:r>
              <a:t>GROUP BY payment_method;</a:t>
            </a:r>
          </a:p>
          <a:p>
            <a:pPr>
              <a:spcBef>
                <a:spcPts val="10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• UPI represents the largest transaction volume (~38%), while Credit Card transactions lead in average ticket value for premium bookings.</a:t>
            </a:r>
            <a:br/>
            <a:r>
              <a:t>• Compares completed vs cancelled transactions.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D9622B"/>
                </a:solidFill>
                <a:latin typeface="Arial"/>
              </a:rPr>
              <a:t>12 </a:t>
            </a:r>
            <a:r>
              <a:rPr sz="2000" b="1">
                <a:solidFill>
                  <a:srgbClr val="1E293B"/>
                </a:solidFill>
                <a:latin typeface="Arial"/>
              </a:rPr>
              <a:t>Business Questions Answered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Vehicle Rental System |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64992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554480"/>
            <a:ext cx="2542032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Arial"/>
              </a:defRPr>
            </a:pPr>
            <a:r>
              <a:t>Vehicles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2999232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•  Highest-revenue model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•  Most-rented fleet model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•  Vehicles never booked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•  Category price leaders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64992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554480"/>
            <a:ext cx="411480" cy="41148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554480"/>
            <a:ext cx="2542032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Arial"/>
              </a:defRPr>
            </a:pPr>
            <a:r>
              <a:t>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11680"/>
            <a:ext cx="2999232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•  Top spending customers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•  Repeat renters (4+ bookings)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•  Above-average spenders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•  City-wise customer ranks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364992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0" y="1554480"/>
            <a:ext cx="411480" cy="41148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1554480"/>
            <a:ext cx="2542032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Arial"/>
              </a:defRPr>
            </a:pPr>
            <a:r>
              <a:t>Locations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011680"/>
            <a:ext cx="2999232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•  Busiest pickup stations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•  Top revenue branches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•  Intercity one-way drop trends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•  Capacity utilization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40480"/>
            <a:ext cx="3364992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4023360"/>
            <a:ext cx="41148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023360"/>
            <a:ext cx="2542032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Arial"/>
              </a:defRPr>
            </a:pPr>
            <a:r>
              <a:t>Rentals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480560"/>
            <a:ext cx="2999232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•  Peak duration trips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•  Budget/Standard/Premium tiers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•  High-value transactions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•  Yearly/monthly volume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840480"/>
            <a:ext cx="3364992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0" y="4023360"/>
            <a:ext cx="411480" cy="41148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4023360"/>
            <a:ext cx="2542032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Arial"/>
              </a:defRPr>
            </a:pPr>
            <a:r>
              <a:t>Payments &amp; 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480560"/>
            <a:ext cx="2999232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•  Payment channel share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•  Completed vs Cancelled ratio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•  Average ticket per method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•  Transaction security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840480"/>
            <a:ext cx="3364992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4023360"/>
            <a:ext cx="411480" cy="4114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4023360"/>
            <a:ext cx="2542032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Arial"/>
              </a:defRPr>
            </a:pPr>
            <a:r>
              <a:t>Trends &amp; 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480560"/>
            <a:ext cx="2999232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•  Revenue share per category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•  Year-over-year bookings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•  Seasonal surge analysis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•  Active rental monitoring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D9622B"/>
                </a:solidFill>
                <a:latin typeface="Arial"/>
              </a:rPr>
              <a:t>13 </a:t>
            </a:r>
            <a:r>
              <a:rPr sz="2000" b="1">
                <a:solidFill>
                  <a:srgbClr val="1E293B"/>
                </a:solidFill>
                <a:latin typeface="Arial"/>
              </a:rPr>
              <a:t>End-to-End Project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Vehicle Rental System |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64592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137160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50" b="1">
                <a:solidFill>
                  <a:srgbClr val="1E293B"/>
                </a:solidFill>
                <a:latin typeface="Arial"/>
              </a:defRPr>
            </a:pPr>
            <a:r>
              <a:t>Design Database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Model 4 relational tables, define PK/FK relationships &amp; cardinalities.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42032" y="1645920"/>
            <a:ext cx="164592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24912" y="1828800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9192" y="2377440"/>
            <a:ext cx="137160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50" b="1">
                <a:solidFill>
                  <a:srgbClr val="1E293B"/>
                </a:solidFill>
                <a:latin typeface="Arial"/>
              </a:defRPr>
            </a:pPr>
            <a:r>
              <a:t>Create Tables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Execute DDL schema in MySQL with constraints &amp; data types.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1645920"/>
            <a:ext cx="164592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35424" y="1828800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2377440"/>
            <a:ext cx="137160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50" b="1">
                <a:solidFill>
                  <a:srgbClr val="1E293B"/>
                </a:solidFill>
                <a:latin typeface="Arial"/>
              </a:defRPr>
            </a:pPr>
            <a:r>
              <a:t>Insert Data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Populate 30,600 verified records simulating commercial fleet operations.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645920"/>
            <a:ext cx="164592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45935" y="1828800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5" y="2377440"/>
            <a:ext cx="137160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50" b="1">
                <a:solidFill>
                  <a:srgbClr val="1E293B"/>
                </a:solidFill>
                <a:latin typeface="Arial"/>
              </a:defRPr>
            </a:pPr>
            <a:r>
              <a:t>Verify Records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Run SHOW TABLES and record count queries to guarantee integrity.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1645920"/>
            <a:ext cx="164592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56448" y="1828800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0728" y="2377440"/>
            <a:ext cx="137160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50" b="1">
                <a:solidFill>
                  <a:srgbClr val="1E293B"/>
                </a:solidFill>
                <a:latin typeface="Arial"/>
              </a:defRPr>
            </a:pPr>
            <a:r>
              <a:t>SQL Analysis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Execute 60 queries across Simple, Medium, and Hard difficulty levels.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1645920"/>
            <a:ext cx="164592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966960" y="1828800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2377440"/>
            <a:ext cx="137160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50" b="1">
                <a:solidFill>
                  <a:srgbClr val="1E293B"/>
                </a:solidFill>
                <a:latin typeface="Arial"/>
              </a:defRPr>
            </a:pPr>
            <a:r>
              <a:t>Business Insights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Extract operational KPIs, revenue trends, and customer metrics.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72000"/>
            <a:ext cx="1069848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754880"/>
            <a:ext cx="1014984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500" b="1">
                <a:solidFill>
                  <a:srgbClr val="D9622B"/>
                </a:solidFill>
                <a:latin typeface="Arial"/>
              </a:defRPr>
            </a:pPr>
            <a:r>
              <a:t>Implementation Flow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Create Database ➔ Create Related Tables ➔ Insert Bulk Data ➔ Verify Data Counts ➔ Execute SQL Analysis (Simple ➔ Medium ➔ Hard) ➔ Generate Actionable Business Insights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D9622B"/>
                </a:solidFill>
                <a:latin typeface="Arial"/>
              </a:rPr>
              <a:t>14 </a:t>
            </a:r>
            <a:r>
              <a:rPr sz="2000" b="1">
                <a:solidFill>
                  <a:srgbClr val="1E293B"/>
                </a:solidFill>
                <a:latin typeface="Arial"/>
              </a:rPr>
              <a:t>Results &amp; Key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Vehicle Rental System |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645920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645920"/>
            <a:ext cx="246888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Arial"/>
              </a:defRPr>
            </a:pPr>
            <a:r>
              <a:t>Database Outcome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2926080" cy="3474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✓  4 Normalized relational tables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✓  Primary &amp; Foreign Key relationships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✓  One-to-many (1:N) links enforced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✓  Rentals tied to customers, cars &amp; hubs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✓  Zero orphan or invalid transactions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17720" y="1645920"/>
            <a:ext cx="411480" cy="41148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645920"/>
            <a:ext cx="246888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Arial"/>
              </a:defRPr>
            </a:pPr>
            <a:r>
              <a:t>Analysis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377440"/>
            <a:ext cx="2926080" cy="3474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✓  60 SQL analysis practice queries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✓  Rental duration &amp; volume analysis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✓  ₹22.1 Cr revenue attribution breakdown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✓  Vehicle category market share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✓  Customer lifetime value &amp; payment share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3832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75320" y="1645920"/>
            <a:ext cx="41148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1645920"/>
            <a:ext cx="246888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Arial"/>
              </a:defRPr>
            </a:pPr>
            <a:r>
              <a:t>Technical Skills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377440"/>
            <a:ext cx="2926080" cy="3474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✓  Multi-table INNER and LEFT JOINs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✓  GROUP BY and HAVING filters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✓  Common Table Expressions (CTEs)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✓  Window Functions (ROW_NUMBER, DENSE_RANK)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✓  PARTITION BY ranking logic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D9622B"/>
                </a:solidFill>
                <a:latin typeface="Arial"/>
              </a:rPr>
              <a:t>15 </a:t>
            </a:r>
            <a:r>
              <a:rPr sz="2000" b="1">
                <a:solidFill>
                  <a:srgbClr val="1E293B"/>
                </a:solidFill>
                <a:latin typeface="Arial"/>
              </a:rP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Vehicle Rental System |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0116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508760"/>
            <a:ext cx="320040" cy="320040"/>
          </a:xfrm>
          <a:prstGeom prst="roundRect">
            <a:avLst/>
          </a:prstGeom>
          <a:solidFill>
            <a:srgbClr val="D96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1737360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 b="1">
                <a:solidFill>
                  <a:srgbClr val="1E293B"/>
                </a:solidFill>
                <a:latin typeface="Arial"/>
              </a:defRPr>
            </a:pPr>
            <a:r>
              <a:t>GPS Live Telematics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Real-time fleet tracking and automated geofencing.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1" y="1371600"/>
            <a:ext cx="20116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44951" y="1508760"/>
            <a:ext cx="320040" cy="320040"/>
          </a:xfrm>
          <a:prstGeom prst="roundRect">
            <a:avLst/>
          </a:prstGeom>
          <a:solidFill>
            <a:srgbClr val="D96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4951" y="1920240"/>
            <a:ext cx="1737360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 b="1">
                <a:solidFill>
                  <a:srgbClr val="1E293B"/>
                </a:solidFill>
                <a:latin typeface="Arial"/>
              </a:defRPr>
            </a:pPr>
            <a:r>
              <a:t>Dynamic Surge Rates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Demand-driven weekend and holiday automated pricing.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1371600"/>
            <a:ext cx="20116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1224" y="1508760"/>
            <a:ext cx="320040" cy="320040"/>
          </a:xfrm>
          <a:prstGeom prst="roundRect">
            <a:avLst/>
          </a:prstGeom>
          <a:solidFill>
            <a:srgbClr val="D96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1920240"/>
            <a:ext cx="1737360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 b="1">
                <a:solidFill>
                  <a:srgbClr val="1E293B"/>
                </a:solidFill>
                <a:latin typeface="Arial"/>
              </a:defRPr>
            </a:pPr>
            <a:r>
              <a:t>Maintenance Logs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Track vehicle service history, oil changes &amp; fitness tests.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336" y="1371600"/>
            <a:ext cx="20116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97496" y="1508760"/>
            <a:ext cx="320040" cy="320040"/>
          </a:xfrm>
          <a:prstGeom prst="roundRect">
            <a:avLst/>
          </a:prstGeom>
          <a:solidFill>
            <a:srgbClr val="D96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97496" y="1920240"/>
            <a:ext cx="1737360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 b="1">
                <a:solidFill>
                  <a:srgbClr val="1E293B"/>
                </a:solidFill>
                <a:latin typeface="Arial"/>
              </a:defRPr>
            </a:pPr>
            <a:r>
              <a:t>Insurance Add-ons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Zero-depreciation and third-party protection policies.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36608" y="1371600"/>
            <a:ext cx="20116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573768" y="1508760"/>
            <a:ext cx="320040" cy="320040"/>
          </a:xfrm>
          <a:prstGeom prst="roundRect">
            <a:avLst/>
          </a:prstGeom>
          <a:solidFill>
            <a:srgbClr val="D96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73768" y="1920240"/>
            <a:ext cx="1737360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 b="1">
                <a:solidFill>
                  <a:srgbClr val="1E293B"/>
                </a:solidFill>
                <a:latin typeface="Arial"/>
              </a:defRPr>
            </a:pPr>
            <a:r>
              <a:t>Loyalty Rewards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Frequent-renter milestone points and corporate discounts.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40480"/>
            <a:ext cx="20116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3977640"/>
            <a:ext cx="320040" cy="320040"/>
          </a:xfrm>
          <a:prstGeom prst="roundRect">
            <a:avLst/>
          </a:prstGeom>
          <a:solidFill>
            <a:srgbClr val="D96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389120"/>
            <a:ext cx="1737360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 b="1">
                <a:solidFill>
                  <a:srgbClr val="1E293B"/>
                </a:solidFill>
                <a:latin typeface="Arial"/>
              </a:defRPr>
            </a:pPr>
            <a:r>
              <a:t>EV Battery Telemetry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Battery charge tracking and charging station routing.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07791" y="3840480"/>
            <a:ext cx="20116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044951" y="3977640"/>
            <a:ext cx="320040" cy="320040"/>
          </a:xfrm>
          <a:prstGeom prst="roundRect">
            <a:avLst/>
          </a:prstGeom>
          <a:solidFill>
            <a:srgbClr val="D96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4951" y="4389120"/>
            <a:ext cx="1737360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 b="1">
                <a:solidFill>
                  <a:srgbClr val="1E293B"/>
                </a:solidFill>
                <a:latin typeface="Arial"/>
              </a:defRPr>
            </a:pPr>
            <a:r>
              <a:t>Damage Audit Logs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Pre-trip and post-trip digital damage checklist audits.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84064" y="3840480"/>
            <a:ext cx="20116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221224" y="3977640"/>
            <a:ext cx="320040" cy="320040"/>
          </a:xfrm>
          <a:prstGeom prst="roundRect">
            <a:avLst/>
          </a:prstGeom>
          <a:solidFill>
            <a:srgbClr val="D96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21224" y="4389120"/>
            <a:ext cx="1737360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 b="1">
                <a:solidFill>
                  <a:srgbClr val="1E293B"/>
                </a:solidFill>
                <a:latin typeface="Arial"/>
              </a:defRPr>
            </a:pPr>
            <a:r>
              <a:t>Mobile App Keys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Contactless smartphone Bluetooth vehicle unlocking.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60336" y="3840480"/>
            <a:ext cx="20116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97496" y="3977640"/>
            <a:ext cx="320040" cy="320040"/>
          </a:xfrm>
          <a:prstGeom prst="roundRect">
            <a:avLst/>
          </a:prstGeom>
          <a:solidFill>
            <a:srgbClr val="D96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97496" y="4389120"/>
            <a:ext cx="1737360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 b="1">
                <a:solidFill>
                  <a:srgbClr val="1E293B"/>
                </a:solidFill>
                <a:latin typeface="Arial"/>
              </a:defRPr>
            </a:pPr>
            <a:r>
              <a:t>Chauffeur Services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Option to book professional vetted drivers on-demand.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36608" y="3840480"/>
            <a:ext cx="20116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573768" y="3977640"/>
            <a:ext cx="320040" cy="320040"/>
          </a:xfrm>
          <a:prstGeom prst="roundRect">
            <a:avLst/>
          </a:prstGeom>
          <a:solidFill>
            <a:srgbClr val="D96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73768" y="4389120"/>
            <a:ext cx="1737360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 b="1">
                <a:solidFill>
                  <a:srgbClr val="1E293B"/>
                </a:solidFill>
                <a:latin typeface="Arial"/>
              </a:defRPr>
            </a:pPr>
            <a:r>
              <a:t>AI Fleet Allocation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Predictive algorithm reallocating idle cars to high-demand hubs.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D9622B"/>
                </a:solidFill>
                <a:latin typeface="Arial"/>
              </a:rPr>
              <a:t>16 </a:t>
            </a:r>
            <a:r>
              <a:rPr sz="2000" b="1">
                <a:solidFill>
                  <a:srgbClr val="1E293B"/>
                </a:solidFill>
                <a:latin typeface="Arial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Vehicle Rental System | 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49840" cy="1828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800" b="1">
                <a:solidFill>
                  <a:srgbClr val="D9622B"/>
                </a:solidFill>
                <a:latin typeface="Arial"/>
              </a:defRPr>
            </a:pPr>
            <a:r>
              <a:t>What This Project Demonstrates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The Vehicle Rental System successfully demonstrates end-to-end relational database design, data integrity enforcement, and practical SQL engineering applied to fleet management. It models 30,600 verified records across 4 interconnected tables and executes 60 graduated analytical queries that convert raw bookings into actionable business intelligence.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2120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4297680"/>
            <a:ext cx="411480" cy="41148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4297680"/>
            <a:ext cx="4114800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Arial"/>
              </a:defRPr>
            </a:pPr>
            <a:r>
              <a:t>Key Learning Summary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Relational Schema Modeling • Referential Integrity • Multi-Table JOINs • Grouped Aggregations • Window Functions • Business KPI Analytics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2120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2240" y="4297680"/>
            <a:ext cx="41148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4297680"/>
            <a:ext cx="4114800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Arial"/>
              </a:defRPr>
            </a:pPr>
            <a:r>
              <a:t>Technologies Mastered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MySQL 8.0 • MySQL Workbench • Python &amp; SQLite Runner • Git / GitHub • SQL Query Optimization &amp; Business Analytics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52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  <a:p>
            <a:pPr>
              <a:spcBef>
                <a:spcPts val="1000"/>
              </a:spcBef>
              <a:defRPr sz="2400" b="1">
                <a:solidFill>
                  <a:srgbClr val="D9622B"/>
                </a:solidFill>
                <a:latin typeface="Arial"/>
              </a:defRPr>
            </a:pPr>
            <a:r>
              <a:t>Questions &amp; Discussion</a:t>
            </a:r>
          </a:p>
          <a:p>
            <a:pPr>
              <a:spcBef>
                <a:spcPts val="1400"/>
              </a:spcBef>
              <a:defRPr sz="1600">
                <a:solidFill>
                  <a:srgbClr val="94A3B8"/>
                </a:solidFill>
                <a:latin typeface="Arial"/>
              </a:defRPr>
            </a:pPr>
            <a:r>
              <a:t>Vehicle Rental System — MySQL Relational Database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572000"/>
            <a:ext cx="5303520" cy="1005840"/>
          </a:xfrm>
          <a:prstGeom prst="roundRect">
            <a:avLst/>
          </a:prstGeom>
          <a:solidFill>
            <a:srgbClr val="D96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FLEET PASS • UNLIMITED KILOMETERS</a:t>
            </a:r>
          </a:p>
          <a:p>
            <a:pPr>
              <a:defRPr sz="1100" b="1">
                <a:solidFill>
                  <a:srgbClr val="FED7AA"/>
                </a:solidFill>
                <a:latin typeface="Arial"/>
              </a:defRPr>
            </a:pPr>
            <a:r>
              <a:t>SEDANS • SUVS • LUXURY • ELECTRICS • 22 CITIES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